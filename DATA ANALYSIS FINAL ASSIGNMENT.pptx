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41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ownloads\Employee_Performance%20Assignment(Assessment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ownloads\Employee_Performance%20Assignment(Assessment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ownloads\Employee_Performance%20Assignment(Assessment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679f328ff0f1160/Documents/Employee_Performance%20Assign%202%20(1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679f328ff0f1160/Documents/Employee_Performance%20Assign%202%20(1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679f328ff0f1160/Documents/Employee_Performance%20Assign%202%20(1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679f328ff0f1160/Documents/Employee_Performance%20Assign%202%20(1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[Employee_Performance Assignment(Assessment).xlsx]pivot table!PivotTable4</c:name>
    <c:fmtId val="7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Performance</a:t>
            </a:r>
            <a:r>
              <a:rPr lang="en-US" baseline="0"/>
              <a:t> Score By Department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0605809001501272"/>
          <c:y val="0.24873929849677884"/>
          <c:w val="0.78645603674540687"/>
          <c:h val="0.39661745406824145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'pivot table'!$D$3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table'!$C$4:$C$9</c:f>
              <c:strCache>
                <c:ptCount val="5"/>
                <c:pt idx="0">
                  <c:v>NA</c:v>
                </c:pt>
                <c:pt idx="1">
                  <c:v>HR</c:v>
                </c:pt>
                <c:pt idx="2">
                  <c:v>FINANCE</c:v>
                </c:pt>
                <c:pt idx="3">
                  <c:v>OPERATIONS</c:v>
                </c:pt>
                <c:pt idx="4">
                  <c:v>IT</c:v>
                </c:pt>
              </c:strCache>
            </c:strRef>
          </c:cat>
          <c:val>
            <c:numRef>
              <c:f>'pivot table'!$D$4:$D$9</c:f>
              <c:numCache>
                <c:formatCode>General</c:formatCode>
                <c:ptCount val="5"/>
                <c:pt idx="0">
                  <c:v>27.6</c:v>
                </c:pt>
                <c:pt idx="1">
                  <c:v>48.7</c:v>
                </c:pt>
                <c:pt idx="2">
                  <c:v>50.599999999999994</c:v>
                </c:pt>
                <c:pt idx="3">
                  <c:v>52.3</c:v>
                </c:pt>
                <c:pt idx="4">
                  <c:v>77.7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C2-49D3-8936-B6AEACDF43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541414976"/>
        <c:axId val="1541415456"/>
        <c:axId val="0"/>
      </c:bar3DChart>
      <c:catAx>
        <c:axId val="1541414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1415456"/>
        <c:crosses val="autoZero"/>
        <c:auto val="1"/>
        <c:lblAlgn val="ctr"/>
        <c:lblOffset val="100"/>
        <c:noMultiLvlLbl val="0"/>
      </c:catAx>
      <c:valAx>
        <c:axId val="15414154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41414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[Employee_Performance Assignment(Assessment).xlsx]pivot table!PivotTable5</c:name>
    <c:fmtId val="7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No.</a:t>
            </a:r>
            <a:r>
              <a:rPr lang="en-US" baseline="0"/>
              <a:t> of Employee by Region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4.8301886792452828E-2"/>
          <c:y val="0.28578252098652956"/>
          <c:w val="0.70264150943396231"/>
          <c:h val="0.62606320904101864"/>
        </c:manualLayout>
      </c:layout>
      <c:pie3DChart>
        <c:varyColors val="1"/>
        <c:ser>
          <c:idx val="0"/>
          <c:order val="0"/>
          <c:tx>
            <c:strRef>
              <c:f>'pivot table'!$B$12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9587-4517-A073-3514C006F47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9587-4517-A073-3514C006F47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9587-4517-A073-3514C006F475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'pivot table'!$A$13:$A$16</c:f>
              <c:strCache>
                <c:ptCount val="3"/>
                <c:pt idx="0">
                  <c:v>Abuja</c:v>
                </c:pt>
                <c:pt idx="1">
                  <c:v>Lagos</c:v>
                </c:pt>
                <c:pt idx="2">
                  <c:v>Remote</c:v>
                </c:pt>
              </c:strCache>
            </c:strRef>
          </c:cat>
          <c:val>
            <c:numRef>
              <c:f>'pivot table'!$B$13:$B$16</c:f>
              <c:numCache>
                <c:formatCode>General</c:formatCode>
                <c:ptCount val="3"/>
                <c:pt idx="0">
                  <c:v>28</c:v>
                </c:pt>
                <c:pt idx="1">
                  <c:v>25</c:v>
                </c:pt>
                <c:pt idx="2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587-4517-A073-3514C006F4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[Employee_Performance Assignment(Assessment).xlsx]pivot table!PivotTable6</c:name>
    <c:fmtId val="9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Job</a:t>
            </a:r>
            <a:r>
              <a:rPr lang="en-US" baseline="0"/>
              <a:t> Level by Salary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6771128608923883"/>
          <c:y val="0.19486111111111112"/>
          <c:w val="0.70295538057742779"/>
          <c:h val="0.72088764946048411"/>
        </c:manualLayout>
      </c:layout>
      <c:bar3DChart>
        <c:barDir val="bar"/>
        <c:grouping val="clustered"/>
        <c:varyColors val="0"/>
        <c:ser>
          <c:idx val="0"/>
          <c:order val="0"/>
          <c:tx>
            <c:strRef>
              <c:f>'pivot table'!$C$19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table'!$B$20:$B$23</c:f>
              <c:strCache>
                <c:ptCount val="3"/>
                <c:pt idx="0">
                  <c:v>Junior</c:v>
                </c:pt>
                <c:pt idx="1">
                  <c:v>Mid-Level</c:v>
                </c:pt>
                <c:pt idx="2">
                  <c:v>Senior</c:v>
                </c:pt>
              </c:strCache>
            </c:strRef>
          </c:cat>
          <c:val>
            <c:numRef>
              <c:f>'pivot table'!$C$20:$C$23</c:f>
              <c:numCache>
                <c:formatCode>General</c:formatCode>
                <c:ptCount val="3"/>
                <c:pt idx="0">
                  <c:v>33</c:v>
                </c:pt>
                <c:pt idx="1">
                  <c:v>25</c:v>
                </c:pt>
                <c:pt idx="2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C6-4760-8812-CF0B8057A5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58129760"/>
        <c:axId val="1158138880"/>
        <c:axId val="0"/>
      </c:bar3DChart>
      <c:catAx>
        <c:axId val="11581297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8138880"/>
        <c:crosses val="autoZero"/>
        <c:auto val="1"/>
        <c:lblAlgn val="ctr"/>
        <c:lblOffset val="100"/>
        <c:noMultiLvlLbl val="0"/>
      </c:catAx>
      <c:valAx>
        <c:axId val="1158138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8129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[Employee_Performance Assign 2 (1).xlsx]pivot table!PivotTable6</c:name>
    <c:fmtId val="4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Job</a:t>
            </a:r>
            <a:r>
              <a:rPr lang="en-US" sz="2400" baseline="0" dirty="0"/>
              <a:t> Level by Salary</a:t>
            </a:r>
            <a:endParaRPr lang="en-US" sz="24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6771128608923883"/>
          <c:y val="0.19486111111111112"/>
          <c:w val="0.70295538057742779"/>
          <c:h val="0.72088764946048411"/>
        </c:manualLayout>
      </c:layout>
      <c:bar3DChart>
        <c:barDir val="bar"/>
        <c:grouping val="clustered"/>
        <c:varyColors val="0"/>
        <c:ser>
          <c:idx val="0"/>
          <c:order val="0"/>
          <c:tx>
            <c:strRef>
              <c:f>'pivot table'!$C$19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table'!$B$20:$B$23</c:f>
              <c:strCache>
                <c:ptCount val="3"/>
                <c:pt idx="0">
                  <c:v>Junior</c:v>
                </c:pt>
                <c:pt idx="1">
                  <c:v>Mid-Level</c:v>
                </c:pt>
                <c:pt idx="2">
                  <c:v>Senior</c:v>
                </c:pt>
              </c:strCache>
            </c:strRef>
          </c:cat>
          <c:val>
            <c:numRef>
              <c:f>'pivot table'!$C$20:$C$23</c:f>
              <c:numCache>
                <c:formatCode>General</c:formatCode>
                <c:ptCount val="3"/>
                <c:pt idx="0">
                  <c:v>33</c:v>
                </c:pt>
                <c:pt idx="1">
                  <c:v>25</c:v>
                </c:pt>
                <c:pt idx="2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84-4D81-AF1E-17EC68D9DF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58129760"/>
        <c:axId val="1158138880"/>
        <c:axId val="0"/>
      </c:bar3DChart>
      <c:catAx>
        <c:axId val="11581297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8138880"/>
        <c:crosses val="autoZero"/>
        <c:auto val="1"/>
        <c:lblAlgn val="ctr"/>
        <c:lblOffset val="100"/>
        <c:noMultiLvlLbl val="0"/>
      </c:catAx>
      <c:valAx>
        <c:axId val="1158138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8129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[Employee_Performance Assign 2 (1).xlsx]pivot table!PivotTable4</c:name>
    <c:fmtId val="4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dirty="0"/>
              <a:t>Performance</a:t>
            </a:r>
            <a:r>
              <a:rPr lang="en-US" sz="2000" baseline="0" dirty="0"/>
              <a:t> Score By Department</a:t>
            </a:r>
            <a:endParaRPr lang="en-US" sz="2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8.2711786513067195E-2"/>
          <c:y val="0.24873929849677884"/>
          <c:w val="0.78645603674540687"/>
          <c:h val="0.39661745406824145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'pivot table'!$D$3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table'!$C$4:$C$9</c:f>
              <c:strCache>
                <c:ptCount val="5"/>
                <c:pt idx="0">
                  <c:v>NA</c:v>
                </c:pt>
                <c:pt idx="1">
                  <c:v>HR</c:v>
                </c:pt>
                <c:pt idx="2">
                  <c:v>FINANCE</c:v>
                </c:pt>
                <c:pt idx="3">
                  <c:v>OPERATIONS</c:v>
                </c:pt>
                <c:pt idx="4">
                  <c:v>IT</c:v>
                </c:pt>
              </c:strCache>
            </c:strRef>
          </c:cat>
          <c:val>
            <c:numRef>
              <c:f>'pivot table'!$D$4:$D$9</c:f>
              <c:numCache>
                <c:formatCode>General</c:formatCode>
                <c:ptCount val="5"/>
                <c:pt idx="0">
                  <c:v>27.6</c:v>
                </c:pt>
                <c:pt idx="1">
                  <c:v>48.7</c:v>
                </c:pt>
                <c:pt idx="2">
                  <c:v>50.599999999999994</c:v>
                </c:pt>
                <c:pt idx="3">
                  <c:v>52.3</c:v>
                </c:pt>
                <c:pt idx="4">
                  <c:v>77.7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10-433A-9CC6-555161E3CA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541414976"/>
        <c:axId val="1541415456"/>
        <c:axId val="0"/>
      </c:bar3DChart>
      <c:catAx>
        <c:axId val="1541414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1415456"/>
        <c:crosses val="autoZero"/>
        <c:auto val="1"/>
        <c:lblAlgn val="ctr"/>
        <c:lblOffset val="100"/>
        <c:noMultiLvlLbl val="0"/>
      </c:catAx>
      <c:valAx>
        <c:axId val="15414154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41414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[Employee_Performance Assign 2 (1).xlsx]pivot table!PivotTable5</c:name>
    <c:fmtId val="4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No.</a:t>
            </a:r>
            <a:r>
              <a:rPr lang="en-US" sz="2400" baseline="0" dirty="0"/>
              <a:t> of Employee by Region</a:t>
            </a:r>
            <a:endParaRPr lang="en-US" sz="24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4.8301886792452828E-2"/>
          <c:y val="0.28578252098652956"/>
          <c:w val="0.70264150943396231"/>
          <c:h val="0.62606320904101864"/>
        </c:manualLayout>
      </c:layout>
      <c:pie3DChart>
        <c:varyColors val="1"/>
        <c:ser>
          <c:idx val="0"/>
          <c:order val="0"/>
          <c:tx>
            <c:strRef>
              <c:f>'pivot table'!$B$12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EFEF-4D24-B934-702193A56B2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EFEF-4D24-B934-702193A56B2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EFEF-4D24-B934-702193A56B21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'pivot table'!$A$13:$A$16</c:f>
              <c:strCache>
                <c:ptCount val="3"/>
                <c:pt idx="0">
                  <c:v>Abuja</c:v>
                </c:pt>
                <c:pt idx="1">
                  <c:v>Lagos</c:v>
                </c:pt>
                <c:pt idx="2">
                  <c:v>Remote</c:v>
                </c:pt>
              </c:strCache>
            </c:strRef>
          </c:cat>
          <c:val>
            <c:numRef>
              <c:f>'pivot table'!$B$13:$B$16</c:f>
              <c:numCache>
                <c:formatCode>General</c:formatCode>
                <c:ptCount val="3"/>
                <c:pt idx="0">
                  <c:v>28</c:v>
                </c:pt>
                <c:pt idx="1">
                  <c:v>25</c:v>
                </c:pt>
                <c:pt idx="2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FEF-4D24-B934-702193A56B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[Employee_Performance Assign 2 (1).xlsx]Sheet1!PivotTable1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dirty="0"/>
              <a:t>Relationship btw Salary and Performance score.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 w="25400">
          <a:noFill/>
        </a:ln>
        <a:effectLst/>
        <a:sp3d/>
      </c:spPr>
    </c:sideWall>
    <c:backWall>
      <c:thickness val="0"/>
      <c:spPr>
        <a:noFill/>
        <a:ln w="25400"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2354481745642905"/>
          <c:y val="0.12424264300724439"/>
          <c:w val="0.61679553252936747"/>
          <c:h val="0.80218062536139445"/>
        </c:manualLayout>
      </c:layout>
      <c:bar3DChart>
        <c:barDir val="bar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Count of Monthly_Salary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Sheet1!$A$4:$A$9</c:f>
              <c:strCache>
                <c:ptCount val="5"/>
                <c:pt idx="0">
                  <c:v>NA</c:v>
                </c:pt>
                <c:pt idx="1">
                  <c:v>HR</c:v>
                </c:pt>
                <c:pt idx="2">
                  <c:v>FINANCE</c:v>
                </c:pt>
                <c:pt idx="3">
                  <c:v>OPERATIONS</c:v>
                </c:pt>
                <c:pt idx="4">
                  <c:v>IT</c:v>
                </c:pt>
              </c:strCache>
            </c:strRef>
          </c:cat>
          <c:val>
            <c:numRef>
              <c:f>Sheet1!$B$4:$B$9</c:f>
              <c:numCache>
                <c:formatCode>General</c:formatCode>
                <c:ptCount val="5"/>
                <c:pt idx="0">
                  <c:v>9</c:v>
                </c:pt>
                <c:pt idx="1">
                  <c:v>18</c:v>
                </c:pt>
                <c:pt idx="2">
                  <c:v>20</c:v>
                </c:pt>
                <c:pt idx="3">
                  <c:v>15</c:v>
                </c:pt>
                <c:pt idx="4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4B-4870-BC82-A3A696B85FCD}"/>
            </c:ext>
          </c:extLst>
        </c:ser>
        <c:ser>
          <c:idx val="1"/>
          <c:order val="1"/>
          <c:tx>
            <c:strRef>
              <c:f>Sheet1!$C$3</c:f>
              <c:strCache>
                <c:ptCount val="1"/>
                <c:pt idx="0">
                  <c:v>Sum of Performance_Score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Sheet1!$A$4:$A$9</c:f>
              <c:strCache>
                <c:ptCount val="5"/>
                <c:pt idx="0">
                  <c:v>NA</c:v>
                </c:pt>
                <c:pt idx="1">
                  <c:v>HR</c:v>
                </c:pt>
                <c:pt idx="2">
                  <c:v>FINANCE</c:v>
                </c:pt>
                <c:pt idx="3">
                  <c:v>OPERATIONS</c:v>
                </c:pt>
                <c:pt idx="4">
                  <c:v>IT</c:v>
                </c:pt>
              </c:strCache>
            </c:strRef>
          </c:cat>
          <c:val>
            <c:numRef>
              <c:f>Sheet1!$C$4:$C$9</c:f>
              <c:numCache>
                <c:formatCode>General</c:formatCode>
                <c:ptCount val="5"/>
                <c:pt idx="0">
                  <c:v>27.6</c:v>
                </c:pt>
                <c:pt idx="1">
                  <c:v>48.7</c:v>
                </c:pt>
                <c:pt idx="2">
                  <c:v>50.599999999999994</c:v>
                </c:pt>
                <c:pt idx="3">
                  <c:v>52.3</c:v>
                </c:pt>
                <c:pt idx="4">
                  <c:v>77.7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B4B-4870-BC82-A3A696B85F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706663568"/>
        <c:axId val="1706664048"/>
        <c:axId val="0"/>
      </c:bar3DChart>
      <c:catAx>
        <c:axId val="170666356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6664048"/>
        <c:crosses val="autoZero"/>
        <c:auto val="1"/>
        <c:lblAlgn val="ctr"/>
        <c:lblOffset val="100"/>
        <c:noMultiLvlLbl val="0"/>
      </c:catAx>
      <c:valAx>
        <c:axId val="17066640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6663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4064345276845258"/>
          <c:y val="0.41008542721968672"/>
          <c:w val="0.30099413197532771"/>
          <c:h val="0.2002037324952215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236EA-3BA8-D5E1-0E21-B50653891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B0C84-44EF-38FE-B33D-1B2A3E5EAA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34C69-A559-D896-B97B-FA8CF6175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62881-41AD-4DB0-9EF4-D7BECB4136F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1A85-95E2-734B-0C22-BD0533BC3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D488D-A3A6-854B-C69F-E978A9A7C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A9-D8AB-43DA-BE7F-2D923A5CC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696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15A25-7352-C084-5E1E-99F96AEBA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34791-9CA9-15B9-3989-EBB9333FE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3CB07-0EC9-BCDA-4EE9-33A67F826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62881-41AD-4DB0-9EF4-D7BECB4136F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3F839-25FD-32F7-F1B6-162D32326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CB70B-2FF9-D305-E93B-F3525C7CA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A9-D8AB-43DA-BE7F-2D923A5CC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697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60734-80F2-99EA-2FD9-B0CE5E06D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77503-386A-6CD8-9A88-4AAC0E498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BB232-58BE-77D1-F34F-99988B92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62881-41AD-4DB0-9EF4-D7BECB4136F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2F16B-A502-107E-52B4-D26657450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3FED5-3F0A-455E-5D08-1B250FE04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A9-D8AB-43DA-BE7F-2D923A5CC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1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F7F6-947E-569F-DA62-582BD8D3D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9995A-84DF-4E76-BF39-513D417C57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84FC1-CF6B-2A60-A7BB-CDFE16241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4A0CE-BF5A-943B-5501-09B54D561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62881-41AD-4DB0-9EF4-D7BECB4136F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0E1AD-346F-8607-C719-BED53BECA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66C28-5934-3E81-C75F-DDA8B2DF8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A9-D8AB-43DA-BE7F-2D923A5CC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435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E029B-A0E7-7930-A64C-871B4ECC6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50057-949E-1487-1092-94A6471E5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A5271E-D8ED-C15A-F340-881B2F3D2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0CA9E4-60B2-83A7-673F-112A1DE7CA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8C85B9-E4C5-B6AF-16B6-9D9C4A800A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26AA4-B17C-646F-639F-4AC1C1385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62881-41AD-4DB0-9EF4-D7BECB4136F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06E0E8-FEBF-01E1-20CB-B7885055C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C51164-891A-D43F-6609-16C1CBE0D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A9-D8AB-43DA-BE7F-2D923A5CC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00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2A9AD-F83F-A55A-27F5-1D72865DC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C8B40D-0A0B-75A8-0EF1-6BD72D46E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62881-41AD-4DB0-9EF4-D7BECB4136F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3E0A3D-F289-32C5-A6F6-487C33EA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FF8571-D1C1-61E3-90F9-28B8DF73E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A9-D8AB-43DA-BE7F-2D923A5CC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73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A6C646-DD35-BE0A-789F-4F262CFB7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62881-41AD-4DB0-9EF4-D7BECB4136F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DC86DE-C191-00AE-3FB0-AE287E80C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CDD76-E181-02A7-EDE2-0EDDEAB7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A9-D8AB-43DA-BE7F-2D923A5CC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18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F6E25-EBE7-119F-A658-9D439C596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F27E6-E577-2431-E539-686E88ED5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14C8C-B156-B714-AE99-CDAA8C59E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45AE25-680B-936D-A0D4-E446A0F7A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62881-41AD-4DB0-9EF4-D7BECB4136F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C174E4-363B-2840-C2A0-196E2762A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0F705-536C-03C6-3F40-51A30ADF9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A9-D8AB-43DA-BE7F-2D923A5CC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09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A468-8950-3ADF-2869-9DF2C5778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7506F4-08C2-C3FD-97DE-7824FF956F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9C5AE-A476-170D-9EAD-F97B35768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20467-19B5-AA38-3CB7-A392AEA3A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62881-41AD-4DB0-9EF4-D7BECB4136F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F0CBE-72A6-4CD7-070B-4B9CC7D9E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B7065-F072-4EE9-BD92-C110FF5D8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A9-D8AB-43DA-BE7F-2D923A5CC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287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7C595-F698-6F58-AEAA-029D737E3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DF9BE1-D422-4AD8-F8EE-8C47A81171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02F5D-9021-2BB4-68E9-4F58E5962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62881-41AD-4DB0-9EF4-D7BECB4136F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3E1DB-3401-B7D0-29BC-7DAB5A28D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2BCA2-5954-CA03-07EF-CC9A95DE3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A9-D8AB-43DA-BE7F-2D923A5CC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564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6A6FD1-BC19-C631-935C-0318A3D729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3525D8-AC70-FE0F-5023-99801EF9DB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97167-2E06-A658-37FC-3E42D5596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62881-41AD-4DB0-9EF4-D7BECB4136F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41D9E-9A5C-F613-9D7D-A3362F2C9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FA2DF-28CE-E3BC-E139-68B8F925F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A9-D8AB-43DA-BE7F-2D923A5CC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5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A85D03-BCD7-2D02-98C7-A6B8CA424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EF7A9-6994-236A-E4DB-9BCDC4CB9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BCE74-1AAA-5F8F-2D36-4B1AB7455D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62881-41AD-4DB0-9EF4-D7BECB4136F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7326F-6DBC-CAFD-7C4D-560232975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7F1C6-1BC4-570E-F9CF-15233A091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3D76A9-D8AB-43DA-BE7F-2D923A5CC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0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16.png"/><Relationship Id="rId7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E8CAE-8CB4-9941-D0DE-8ACAE1CD41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DEP 202 Data Analysis</a:t>
            </a:r>
            <a:br>
              <a:rPr lang="en-US" dirty="0"/>
            </a:br>
            <a:r>
              <a:rPr lang="en-US" dirty="0"/>
              <a:t>Cosmopolitan University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635BC9-9AEB-A1F0-9C4B-3BBC5F5DD7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7701" y="3765810"/>
            <a:ext cx="10076597" cy="2648637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DATA ANALYSIS assignment ON EMPLOYEE PERFORMANCE DASHBOARD USING EXCEL.</a:t>
            </a:r>
          </a:p>
          <a:p>
            <a:r>
              <a:rPr lang="en-US" dirty="0"/>
              <a:t>BY : UCHEGBULEM KELECHI ANNABEL</a:t>
            </a:r>
          </a:p>
          <a:p>
            <a:r>
              <a:rPr lang="en-US" dirty="0"/>
              <a:t>26A-MED-NSC-0708</a:t>
            </a:r>
          </a:p>
        </p:txBody>
      </p:sp>
    </p:spTree>
    <p:extLst>
      <p:ext uri="{BB962C8B-B14F-4D97-AF65-F5344CB8AC3E}">
        <p14:creationId xmlns:p14="http://schemas.microsoft.com/office/powerpoint/2010/main" val="3747663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A69-90EA-3835-2CB5-28D26164E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b="1" dirty="0"/>
              <a:t>Business Objective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0E030-1A50-1F78-3765-0D0F7F257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company wants to understand:</a:t>
            </a:r>
          </a:p>
          <a:p>
            <a:pPr lvl="0"/>
            <a:r>
              <a:rPr lang="en-US" dirty="0"/>
              <a:t>Salary distribution</a:t>
            </a:r>
          </a:p>
          <a:p>
            <a:pPr lvl="0"/>
            <a:r>
              <a:rPr lang="en-US" dirty="0"/>
              <a:t>Department performance</a:t>
            </a:r>
          </a:p>
          <a:p>
            <a:pPr lvl="0"/>
            <a:r>
              <a:rPr lang="en-US" dirty="0"/>
              <a:t>Employee distribution by location</a:t>
            </a:r>
          </a:p>
          <a:p>
            <a:pPr lvl="0"/>
            <a:r>
              <a:rPr lang="en-US" dirty="0"/>
              <a:t>Relationship between salary and performance</a:t>
            </a:r>
          </a:p>
          <a:p>
            <a:pPr lvl="0"/>
            <a:r>
              <a:rPr lang="en-US" dirty="0"/>
              <a:t>Workforce structure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579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26AF559A-6A0B-1903-A9C4-000A51C6D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" y="163513"/>
            <a:ext cx="11925300" cy="6530974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623730C3-D291-D9ED-2332-B905AF843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487401"/>
              </p:ext>
            </p:extLst>
          </p:nvPr>
        </p:nvGraphicFramePr>
        <p:xfrm>
          <a:off x="-1" y="0"/>
          <a:ext cx="12168186" cy="68845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4048">
                  <a:extLst>
                    <a:ext uri="{9D8B030D-6E8A-4147-A177-3AD203B41FA5}">
                      <a16:colId xmlns:a16="http://schemas.microsoft.com/office/drawing/2014/main" val="1269849035"/>
                    </a:ext>
                  </a:extLst>
                </a:gridCol>
                <a:gridCol w="584048">
                  <a:extLst>
                    <a:ext uri="{9D8B030D-6E8A-4147-A177-3AD203B41FA5}">
                      <a16:colId xmlns:a16="http://schemas.microsoft.com/office/drawing/2014/main" val="2699572851"/>
                    </a:ext>
                  </a:extLst>
                </a:gridCol>
                <a:gridCol w="584048">
                  <a:extLst>
                    <a:ext uri="{9D8B030D-6E8A-4147-A177-3AD203B41FA5}">
                      <a16:colId xmlns:a16="http://schemas.microsoft.com/office/drawing/2014/main" val="831915272"/>
                    </a:ext>
                  </a:extLst>
                </a:gridCol>
                <a:gridCol w="584048">
                  <a:extLst>
                    <a:ext uri="{9D8B030D-6E8A-4147-A177-3AD203B41FA5}">
                      <a16:colId xmlns:a16="http://schemas.microsoft.com/office/drawing/2014/main" val="1973982096"/>
                    </a:ext>
                  </a:extLst>
                </a:gridCol>
                <a:gridCol w="584048">
                  <a:extLst>
                    <a:ext uri="{9D8B030D-6E8A-4147-A177-3AD203B41FA5}">
                      <a16:colId xmlns:a16="http://schemas.microsoft.com/office/drawing/2014/main" val="1774514340"/>
                    </a:ext>
                  </a:extLst>
                </a:gridCol>
                <a:gridCol w="456190">
                  <a:extLst>
                    <a:ext uri="{9D8B030D-6E8A-4147-A177-3AD203B41FA5}">
                      <a16:colId xmlns:a16="http://schemas.microsoft.com/office/drawing/2014/main" val="2825970424"/>
                    </a:ext>
                  </a:extLst>
                </a:gridCol>
                <a:gridCol w="584048">
                  <a:extLst>
                    <a:ext uri="{9D8B030D-6E8A-4147-A177-3AD203B41FA5}">
                      <a16:colId xmlns:a16="http://schemas.microsoft.com/office/drawing/2014/main" val="1418559361"/>
                    </a:ext>
                  </a:extLst>
                </a:gridCol>
                <a:gridCol w="584048">
                  <a:extLst>
                    <a:ext uri="{9D8B030D-6E8A-4147-A177-3AD203B41FA5}">
                      <a16:colId xmlns:a16="http://schemas.microsoft.com/office/drawing/2014/main" val="1107873880"/>
                    </a:ext>
                  </a:extLst>
                </a:gridCol>
                <a:gridCol w="584048">
                  <a:extLst>
                    <a:ext uri="{9D8B030D-6E8A-4147-A177-3AD203B41FA5}">
                      <a16:colId xmlns:a16="http://schemas.microsoft.com/office/drawing/2014/main" val="3775197961"/>
                    </a:ext>
                  </a:extLst>
                </a:gridCol>
                <a:gridCol w="584048">
                  <a:extLst>
                    <a:ext uri="{9D8B030D-6E8A-4147-A177-3AD203B41FA5}">
                      <a16:colId xmlns:a16="http://schemas.microsoft.com/office/drawing/2014/main" val="936262976"/>
                    </a:ext>
                  </a:extLst>
                </a:gridCol>
                <a:gridCol w="584048">
                  <a:extLst>
                    <a:ext uri="{9D8B030D-6E8A-4147-A177-3AD203B41FA5}">
                      <a16:colId xmlns:a16="http://schemas.microsoft.com/office/drawing/2014/main" val="3068247128"/>
                    </a:ext>
                  </a:extLst>
                </a:gridCol>
                <a:gridCol w="584048">
                  <a:extLst>
                    <a:ext uri="{9D8B030D-6E8A-4147-A177-3AD203B41FA5}">
                      <a16:colId xmlns:a16="http://schemas.microsoft.com/office/drawing/2014/main" val="2498599472"/>
                    </a:ext>
                  </a:extLst>
                </a:gridCol>
                <a:gridCol w="584048">
                  <a:extLst>
                    <a:ext uri="{9D8B030D-6E8A-4147-A177-3AD203B41FA5}">
                      <a16:colId xmlns:a16="http://schemas.microsoft.com/office/drawing/2014/main" val="56752765"/>
                    </a:ext>
                  </a:extLst>
                </a:gridCol>
                <a:gridCol w="584048">
                  <a:extLst>
                    <a:ext uri="{9D8B030D-6E8A-4147-A177-3AD203B41FA5}">
                      <a16:colId xmlns:a16="http://schemas.microsoft.com/office/drawing/2014/main" val="856181230"/>
                    </a:ext>
                  </a:extLst>
                </a:gridCol>
                <a:gridCol w="584048">
                  <a:extLst>
                    <a:ext uri="{9D8B030D-6E8A-4147-A177-3AD203B41FA5}">
                      <a16:colId xmlns:a16="http://schemas.microsoft.com/office/drawing/2014/main" val="559924516"/>
                    </a:ext>
                  </a:extLst>
                </a:gridCol>
                <a:gridCol w="584048">
                  <a:extLst>
                    <a:ext uri="{9D8B030D-6E8A-4147-A177-3AD203B41FA5}">
                      <a16:colId xmlns:a16="http://schemas.microsoft.com/office/drawing/2014/main" val="3739199267"/>
                    </a:ext>
                  </a:extLst>
                </a:gridCol>
                <a:gridCol w="584048">
                  <a:extLst>
                    <a:ext uri="{9D8B030D-6E8A-4147-A177-3AD203B41FA5}">
                      <a16:colId xmlns:a16="http://schemas.microsoft.com/office/drawing/2014/main" val="1986679466"/>
                    </a:ext>
                  </a:extLst>
                </a:gridCol>
                <a:gridCol w="584048">
                  <a:extLst>
                    <a:ext uri="{9D8B030D-6E8A-4147-A177-3AD203B41FA5}">
                      <a16:colId xmlns:a16="http://schemas.microsoft.com/office/drawing/2014/main" val="893589458"/>
                    </a:ext>
                  </a:extLst>
                </a:gridCol>
                <a:gridCol w="584048">
                  <a:extLst>
                    <a:ext uri="{9D8B030D-6E8A-4147-A177-3AD203B41FA5}">
                      <a16:colId xmlns:a16="http://schemas.microsoft.com/office/drawing/2014/main" val="1356577158"/>
                    </a:ext>
                  </a:extLst>
                </a:gridCol>
                <a:gridCol w="31036">
                  <a:extLst>
                    <a:ext uri="{9D8B030D-6E8A-4147-A177-3AD203B41FA5}">
                      <a16:colId xmlns:a16="http://schemas.microsoft.com/office/drawing/2014/main" val="2016232724"/>
                    </a:ext>
                  </a:extLst>
                </a:gridCol>
                <a:gridCol w="584048">
                  <a:extLst>
                    <a:ext uri="{9D8B030D-6E8A-4147-A177-3AD203B41FA5}">
                      <a16:colId xmlns:a16="http://schemas.microsoft.com/office/drawing/2014/main" val="3425197222"/>
                    </a:ext>
                  </a:extLst>
                </a:gridCol>
                <a:gridCol w="584048">
                  <a:extLst>
                    <a:ext uri="{9D8B030D-6E8A-4147-A177-3AD203B41FA5}">
                      <a16:colId xmlns:a16="http://schemas.microsoft.com/office/drawing/2014/main" val="698326177"/>
                    </a:ext>
                  </a:extLst>
                </a:gridCol>
              </a:tblGrid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07291772"/>
                  </a:ext>
                </a:extLst>
              </a:tr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51133509"/>
                  </a:ext>
                </a:extLst>
              </a:tr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68987399"/>
                  </a:ext>
                </a:extLst>
              </a:tr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17384853"/>
                  </a:ext>
                </a:extLst>
              </a:tr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87119449"/>
                  </a:ext>
                </a:extLst>
              </a:tr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20462300"/>
                  </a:ext>
                </a:extLst>
              </a:tr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9554719"/>
                  </a:ext>
                </a:extLst>
              </a:tr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85047540"/>
                  </a:ext>
                </a:extLst>
              </a:tr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8699001"/>
                  </a:ext>
                </a:extLst>
              </a:tr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96004620"/>
                  </a:ext>
                </a:extLst>
              </a:tr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66527654"/>
                  </a:ext>
                </a:extLst>
              </a:tr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03036394"/>
                  </a:ext>
                </a:extLst>
              </a:tr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85311553"/>
                  </a:ext>
                </a:extLst>
              </a:tr>
              <a:tr h="2986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838877.7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6936788"/>
                  </a:ext>
                </a:extLst>
              </a:tr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12803998"/>
                  </a:ext>
                </a:extLst>
              </a:tr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41325750"/>
                  </a:ext>
                </a:extLst>
              </a:tr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47301527"/>
                  </a:ext>
                </a:extLst>
              </a:tr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93335946"/>
                  </a:ext>
                </a:extLst>
              </a:tr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26598718"/>
                  </a:ext>
                </a:extLst>
              </a:tr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02324914"/>
                  </a:ext>
                </a:extLst>
              </a:tr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42518342"/>
                  </a:ext>
                </a:extLst>
              </a:tr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10407840"/>
                  </a:ext>
                </a:extLst>
              </a:tr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22024562"/>
                  </a:ext>
                </a:extLst>
              </a:tr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25257891"/>
                  </a:ext>
                </a:extLst>
              </a:tr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78524403"/>
                  </a:ext>
                </a:extLst>
              </a:tr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24071667"/>
                  </a:ext>
                </a:extLst>
              </a:tr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98299019"/>
                  </a:ext>
                </a:extLst>
              </a:tr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13377280"/>
                  </a:ext>
                </a:extLst>
              </a:tr>
              <a:tr h="2352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08324381"/>
                  </a:ext>
                </a:extLst>
              </a:tr>
            </a:tbl>
          </a:graphicData>
        </a:graphic>
      </p:graphicFrame>
      <p:grpSp>
        <p:nvGrpSpPr>
          <p:cNvPr id="42" name="Group 41">
            <a:extLst>
              <a:ext uri="{FF2B5EF4-FFF2-40B4-BE49-F238E27FC236}">
                <a16:creationId xmlns:a16="http://schemas.microsoft.com/office/drawing/2014/main" id="{9CAFBCEC-A415-0238-241D-4DB7C5B31C42}"/>
              </a:ext>
            </a:extLst>
          </p:cNvPr>
          <p:cNvGrpSpPr/>
          <p:nvPr/>
        </p:nvGrpSpPr>
        <p:grpSpPr>
          <a:xfrm>
            <a:off x="107950" y="1225417"/>
            <a:ext cx="12130708" cy="4865229"/>
            <a:chOff x="150951" y="1057142"/>
            <a:chExt cx="12130708" cy="486522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E830DAB6-913D-7543-95FC-D1851277632F}"/>
                </a:ext>
              </a:extLst>
            </p:cNvPr>
            <p:cNvGrpSpPr/>
            <p:nvPr/>
          </p:nvGrpSpPr>
          <p:grpSpPr>
            <a:xfrm>
              <a:off x="150951" y="1057142"/>
              <a:ext cx="12103100" cy="4865229"/>
              <a:chOff x="150951" y="1057142"/>
              <a:chExt cx="12103100" cy="4865229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6158CB0-EA0D-5172-90D6-B42B4675518E}"/>
                  </a:ext>
                </a:extLst>
              </p:cNvPr>
              <p:cNvSpPr/>
              <p:nvPr/>
            </p:nvSpPr>
            <p:spPr>
              <a:xfrm>
                <a:off x="2483609" y="1057142"/>
                <a:ext cx="9770442" cy="71876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en-US" sz="1100" dirty="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5003A053-737D-41A7-1C84-0B4038A5B99A}"/>
                  </a:ext>
                </a:extLst>
              </p:cNvPr>
              <p:cNvSpPr/>
              <p:nvPr/>
            </p:nvSpPr>
            <p:spPr>
              <a:xfrm>
                <a:off x="150951" y="1077321"/>
                <a:ext cx="2311400" cy="484505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en-US" sz="1100" dirty="0"/>
              </a:p>
            </p:txBody>
          </p:sp>
        </p:grp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AB42C27-3377-45FF-A70C-20D7B3C3F55E}"/>
                </a:ext>
              </a:extLst>
            </p:cNvPr>
            <p:cNvSpPr/>
            <p:nvPr/>
          </p:nvSpPr>
          <p:spPr>
            <a:xfrm>
              <a:off x="2483609" y="1775069"/>
              <a:ext cx="9798050" cy="41578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EMPLOYEE PERFORMANCE DASHBOARD</a:t>
              </a:r>
            </a:p>
          </p:txBody>
        </p:sp>
      </p:grpSp>
      <p:pic>
        <p:nvPicPr>
          <p:cNvPr id="47" name="table">
            <a:extLst>
              <a:ext uri="{FF2B5EF4-FFF2-40B4-BE49-F238E27FC236}">
                <a16:creationId xmlns:a16="http://schemas.microsoft.com/office/drawing/2014/main" id="{CD25A766-BF91-41B7-2CFE-28C454747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107" y="2951163"/>
            <a:ext cx="1828800" cy="1174750"/>
          </a:xfrm>
          <a:prstGeom prst="rect">
            <a:avLst/>
          </a:prstGeom>
        </p:spPr>
      </p:pic>
      <p:pic>
        <p:nvPicPr>
          <p:cNvPr id="48" name="table">
            <a:extLst>
              <a:ext uri="{FF2B5EF4-FFF2-40B4-BE49-F238E27FC236}">
                <a16:creationId xmlns:a16="http://schemas.microsoft.com/office/drawing/2014/main" id="{07ACD176-CD7A-1E72-0552-62538194E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650" y="1550988"/>
            <a:ext cx="1828800" cy="1295400"/>
          </a:xfrm>
          <a:prstGeom prst="rect">
            <a:avLst/>
          </a:prstGeom>
        </p:spPr>
      </p:pic>
      <p:pic>
        <p:nvPicPr>
          <p:cNvPr id="49" name="table">
            <a:extLst>
              <a:ext uri="{FF2B5EF4-FFF2-40B4-BE49-F238E27FC236}">
                <a16:creationId xmlns:a16="http://schemas.microsoft.com/office/drawing/2014/main" id="{B2338F6B-7EFF-1FF4-5009-3A44C510ED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707" y="4335463"/>
            <a:ext cx="1828800" cy="1676400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36DE0320-D1E6-4936-8CBC-6FA57C6CE664}"/>
              </a:ext>
            </a:extLst>
          </p:cNvPr>
          <p:cNvSpPr/>
          <p:nvPr/>
        </p:nvSpPr>
        <p:spPr>
          <a:xfrm>
            <a:off x="2908261" y="2563814"/>
            <a:ext cx="1835150" cy="4127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>
                <a:solidFill>
                  <a:srgbClr val="FF0000"/>
                </a:solidFill>
              </a:rPr>
              <a:t>Maximum Monthly Salary</a:t>
            </a:r>
            <a:r>
              <a:rPr lang="en-US" sz="1100" b="1" baseline="0">
                <a:solidFill>
                  <a:srgbClr val="FF0000"/>
                </a:solidFill>
              </a:rPr>
              <a:t> </a:t>
            </a:r>
            <a:endParaRPr lang="en-US" sz="1100" b="1">
              <a:solidFill>
                <a:srgbClr val="FF0000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BF36962-256E-D588-B266-736D3311C237}"/>
              </a:ext>
            </a:extLst>
          </p:cNvPr>
          <p:cNvSpPr/>
          <p:nvPr/>
        </p:nvSpPr>
        <p:spPr>
          <a:xfrm>
            <a:off x="2919412" y="2525711"/>
            <a:ext cx="1841500" cy="81915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/>
          </a:p>
        </p:txBody>
      </p:sp>
      <p:pic>
        <p:nvPicPr>
          <p:cNvPr id="52" name="Graphic 12" descr="Money with solid fill">
            <a:extLst>
              <a:ext uri="{FF2B5EF4-FFF2-40B4-BE49-F238E27FC236}">
                <a16:creationId xmlns:a16="http://schemas.microsoft.com/office/drawing/2014/main" id="{5B32C21A-ABF6-80E7-4D20-DC41993F1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03586" y="2677722"/>
            <a:ext cx="444500" cy="292100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DF06CAC9-3C8C-7A5C-DCDD-BC1C43B8D497}"/>
              </a:ext>
            </a:extLst>
          </p:cNvPr>
          <p:cNvSpPr/>
          <p:nvPr/>
        </p:nvSpPr>
        <p:spPr>
          <a:xfrm>
            <a:off x="5473700" y="2487787"/>
            <a:ext cx="1822450" cy="762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345846A-CF9C-1848-CBA8-978230DAAAE3}"/>
              </a:ext>
            </a:extLst>
          </p:cNvPr>
          <p:cNvSpPr/>
          <p:nvPr/>
        </p:nvSpPr>
        <p:spPr>
          <a:xfrm>
            <a:off x="5486364" y="2528414"/>
            <a:ext cx="18034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rgbClr val="FF0000"/>
                </a:solidFill>
              </a:rPr>
              <a:t>Minimum Monthly Salary</a:t>
            </a:r>
          </a:p>
        </p:txBody>
      </p:sp>
      <p:graphicFrame>
        <p:nvGraphicFramePr>
          <p:cNvPr id="55" name="Chart 54">
            <a:extLst>
              <a:ext uri="{FF2B5EF4-FFF2-40B4-BE49-F238E27FC236}">
                <a16:creationId xmlns:a16="http://schemas.microsoft.com/office/drawing/2014/main" id="{92215F66-F213-46A2-A071-908B4E2AE9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8978202"/>
              </p:ext>
            </p:extLst>
          </p:nvPr>
        </p:nvGraphicFramePr>
        <p:xfrm>
          <a:off x="2444750" y="3773381"/>
          <a:ext cx="3263900" cy="2687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56" name="Chart 55">
            <a:extLst>
              <a:ext uri="{FF2B5EF4-FFF2-40B4-BE49-F238E27FC236}">
                <a16:creationId xmlns:a16="http://schemas.microsoft.com/office/drawing/2014/main" id="{D5A84ABA-B6FF-49BD-AB5B-4735A0017F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1347291"/>
              </p:ext>
            </p:extLst>
          </p:nvPr>
        </p:nvGraphicFramePr>
        <p:xfrm>
          <a:off x="6110287" y="3773381"/>
          <a:ext cx="2930525" cy="2523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7" name="Chart 56">
            <a:extLst>
              <a:ext uri="{FF2B5EF4-FFF2-40B4-BE49-F238E27FC236}">
                <a16:creationId xmlns:a16="http://schemas.microsoft.com/office/drawing/2014/main" id="{61DBEFF3-F544-4301-B72A-5C8832F71D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2634345"/>
              </p:ext>
            </p:extLst>
          </p:nvPr>
        </p:nvGraphicFramePr>
        <p:xfrm>
          <a:off x="9385300" y="3773381"/>
          <a:ext cx="2825750" cy="24496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pic>
        <p:nvPicPr>
          <p:cNvPr id="58" name="Graphic 11" descr="Money with solid fill">
            <a:extLst>
              <a:ext uri="{FF2B5EF4-FFF2-40B4-BE49-F238E27FC236}">
                <a16:creationId xmlns:a16="http://schemas.microsoft.com/office/drawing/2014/main" id="{2876874F-3401-4988-8BED-A2C864472D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2675" y="2674937"/>
            <a:ext cx="4445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649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E5B02-6AE8-700A-3710-E6307556D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Salary Distribution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1DBEFF3-F544-4301-B72A-5C8832F71D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0253954"/>
              </p:ext>
            </p:extLst>
          </p:nvPr>
        </p:nvGraphicFramePr>
        <p:xfrm>
          <a:off x="3169085" y="2167003"/>
          <a:ext cx="6250488" cy="30062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59856BE-68DF-418D-17B8-A4DDAA0EFB73}"/>
              </a:ext>
            </a:extLst>
          </p:cNvPr>
          <p:cNvSpPr txBox="1"/>
          <p:nvPr/>
        </p:nvSpPr>
        <p:spPr>
          <a:xfrm>
            <a:off x="325677" y="2029216"/>
            <a:ext cx="370770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The junior staff has the highest salary distribution of 33 workers. Leaving senior staff with 26, and mid-level staff with 25</a:t>
            </a:r>
          </a:p>
        </p:txBody>
      </p:sp>
    </p:spTree>
    <p:extLst>
      <p:ext uri="{BB962C8B-B14F-4D97-AF65-F5344CB8AC3E}">
        <p14:creationId xmlns:p14="http://schemas.microsoft.com/office/powerpoint/2010/main" val="2083102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2237D-20DB-65F2-7199-9509E02CC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Department Performance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2215F66-F213-46A2-A071-908B4E2AE9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7827108"/>
              </p:ext>
            </p:extLst>
          </p:nvPr>
        </p:nvGraphicFramePr>
        <p:xfrm>
          <a:off x="4972833" y="2091847"/>
          <a:ext cx="6551111" cy="44010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829459B-D6C6-9E1D-CBBE-AF3AA6DF7BF4}"/>
              </a:ext>
            </a:extLst>
          </p:cNvPr>
          <p:cNvSpPr txBox="1"/>
          <p:nvPr/>
        </p:nvSpPr>
        <p:spPr>
          <a:xfrm>
            <a:off x="576197" y="2605414"/>
            <a:ext cx="417116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According to the chart, NA has the least performance of 27.5. Leaving IT department with the highest performance.</a:t>
            </a:r>
          </a:p>
        </p:txBody>
      </p:sp>
    </p:spTree>
    <p:extLst>
      <p:ext uri="{BB962C8B-B14F-4D97-AF65-F5344CB8AC3E}">
        <p14:creationId xmlns:p14="http://schemas.microsoft.com/office/powerpoint/2010/main" val="455548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70BA2-8F90-676A-6267-E0A9D478C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Employee Distribution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5A84ABA-B6FF-49BD-AB5B-4735A0017F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5981106"/>
              </p:ext>
            </p:extLst>
          </p:nvPr>
        </p:nvGraphicFramePr>
        <p:xfrm>
          <a:off x="3820437" y="1803748"/>
          <a:ext cx="7277623" cy="43732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2C9BFBC-A48C-8827-2682-692672B56D0D}"/>
              </a:ext>
            </a:extLst>
          </p:cNvPr>
          <p:cNvSpPr txBox="1"/>
          <p:nvPr/>
        </p:nvSpPr>
        <p:spPr>
          <a:xfrm>
            <a:off x="739036" y="2492679"/>
            <a:ext cx="29686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chart shows the percentage of workers and the location they work from. The highest workers work remotely and the least workers are working from Lagos </a:t>
            </a:r>
          </a:p>
        </p:txBody>
      </p:sp>
    </p:spTree>
    <p:extLst>
      <p:ext uri="{BB962C8B-B14F-4D97-AF65-F5344CB8AC3E}">
        <p14:creationId xmlns:p14="http://schemas.microsoft.com/office/powerpoint/2010/main" val="2402259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BBBDF-FF64-7874-9DE8-0DA2122CB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btw Salary and Performance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A6BAAA-E620-2AA3-F715-944CA6E64D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5864646"/>
              </p:ext>
            </p:extLst>
          </p:nvPr>
        </p:nvGraphicFramePr>
        <p:xfrm>
          <a:off x="3594970" y="1690688"/>
          <a:ext cx="7758829" cy="4486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595DD7F-1076-ABA4-2C6F-143B675087FB}"/>
              </a:ext>
            </a:extLst>
          </p:cNvPr>
          <p:cNvSpPr txBox="1"/>
          <p:nvPr/>
        </p:nvSpPr>
        <p:spPr>
          <a:xfrm>
            <a:off x="838200" y="2279737"/>
            <a:ext cx="3295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chart shows </a:t>
            </a:r>
          </a:p>
        </p:txBody>
      </p:sp>
    </p:spTree>
    <p:extLst>
      <p:ext uri="{BB962C8B-B14F-4D97-AF65-F5344CB8AC3E}">
        <p14:creationId xmlns:p14="http://schemas.microsoft.com/office/powerpoint/2010/main" val="3072991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180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DEP 202 Data Analysis Cosmopolitan University</vt:lpstr>
      <vt:lpstr>Business Objective </vt:lpstr>
      <vt:lpstr>PowerPoint Presentation</vt:lpstr>
      <vt:lpstr>1. Salary Distribution</vt:lpstr>
      <vt:lpstr>Department Performance </vt:lpstr>
      <vt:lpstr>Employee Distribution </vt:lpstr>
      <vt:lpstr>Relationship btw Salary and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Kosara .C.U</dc:creator>
  <cp:lastModifiedBy>Kosara .C.U</cp:lastModifiedBy>
  <cp:revision>5</cp:revision>
  <dcterms:created xsi:type="dcterms:W3CDTF">2026-04-18T06:51:03Z</dcterms:created>
  <dcterms:modified xsi:type="dcterms:W3CDTF">2026-04-19T11:28:13Z</dcterms:modified>
</cp:coreProperties>
</file>